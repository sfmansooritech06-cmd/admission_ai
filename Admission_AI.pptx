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sldIdLst>
    <p:sldId id="256" r:id="rId2"/>
    <p:sldId id="257" r:id="rId3"/>
    <p:sldId id="258" r:id="rId4"/>
    <p:sldId id="272" r:id="rId5"/>
    <p:sldId id="259" r:id="rId6"/>
    <p:sldId id="273" r:id="rId7"/>
    <p:sldId id="260" r:id="rId8"/>
    <p:sldId id="274" r:id="rId9"/>
    <p:sldId id="261" r:id="rId10"/>
    <p:sldId id="283" r:id="rId11"/>
    <p:sldId id="284" r:id="rId12"/>
    <p:sldId id="285" r:id="rId13"/>
    <p:sldId id="275" r:id="rId14"/>
    <p:sldId id="276" r:id="rId15"/>
    <p:sldId id="277" r:id="rId16"/>
    <p:sldId id="290" r:id="rId17"/>
    <p:sldId id="278" r:id="rId18"/>
    <p:sldId id="280" r:id="rId19"/>
    <p:sldId id="279" r:id="rId20"/>
    <p:sldId id="291" r:id="rId21"/>
    <p:sldId id="292" r:id="rId22"/>
    <p:sldId id="281" r:id="rId23"/>
    <p:sldId id="282" r:id="rId24"/>
    <p:sldId id="287" r:id="rId25"/>
    <p:sldId id="288" r:id="rId26"/>
    <p:sldId id="267" r:id="rId27"/>
    <p:sldId id="268" r:id="rId28"/>
    <p:sldId id="269" r:id="rId29"/>
    <p:sldId id="270" r:id="rId30"/>
    <p:sldId id="289" r:id="rId31"/>
    <p:sldId id="271" r:id="rId3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864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3556000" y="0"/>
            <a:ext cx="8636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127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4489157" y="533400"/>
            <a:ext cx="68072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4472589" y="3539864"/>
            <a:ext cx="6819704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7828299" y="6557946"/>
            <a:ext cx="2669952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3759200" y="6557946"/>
            <a:ext cx="3903629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507845" y="6556248"/>
            <a:ext cx="784448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1" y="2821840"/>
            <a:ext cx="8340651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401" y="1905003"/>
            <a:ext cx="8340651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98984" y="6556810"/>
            <a:ext cx="2669952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13811" y="6556810"/>
            <a:ext cx="38608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8603" y="6555112"/>
            <a:ext cx="784448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469392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1744" y="1600203"/>
            <a:ext cx="469392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867400"/>
            <a:ext cx="469392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571744" y="5867400"/>
            <a:ext cx="469392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711840"/>
            <a:ext cx="469392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1744" y="1711840"/>
            <a:ext cx="469392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6384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97416"/>
            <a:ext cx="786384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0"/>
            <a:ext cx="9652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797293" y="1004671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795610" y="998819"/>
            <a:ext cx="5759369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5464" y="1143000"/>
            <a:ext cx="4572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85464" y="3283634"/>
            <a:ext cx="4572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884909" y="1041002"/>
            <a:ext cx="560832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958"/>
            <a:ext cx="2032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57088" y="6557946"/>
            <a:ext cx="2669952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56248"/>
            <a:ext cx="48768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9328" y="6553200"/>
            <a:ext cx="78444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10871200" y="0"/>
            <a:ext cx="13208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2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609600" y="1609416"/>
            <a:ext cx="9652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5661248" y="6557946"/>
            <a:ext cx="2669952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609600" y="6557946"/>
            <a:ext cx="48768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335264" y="6556248"/>
            <a:ext cx="784448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1371600"/>
            <a:ext cx="10668000" cy="3015568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525905" marR="5080" indent="-1513840" algn="ctr">
              <a:lnSpc>
                <a:spcPts val="7130"/>
              </a:lnSpc>
              <a:spcBef>
                <a:spcPts val="994"/>
              </a:spcBef>
            </a:pPr>
            <a:r>
              <a:rPr sz="4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IBM</a:t>
            </a:r>
            <a:r>
              <a:rPr sz="4000" spc="-145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4000" spc="-2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University</a:t>
            </a:r>
            <a:r>
              <a:rPr sz="4000" spc="-14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4000" spc="-1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Engagement</a:t>
            </a:r>
            <a:r>
              <a:rPr lang="en-US" sz="4000" spc="-1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spc="-1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sz="4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</a:t>
            </a:r>
            <a:r>
              <a:rPr sz="4000" spc="-31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4000" spc="-1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Submission</a:t>
            </a:r>
            <a:endParaRPr sz="4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835660">
              <a:lnSpc>
                <a:spcPct val="100000"/>
              </a:lnSpc>
              <a:spcBef>
                <a:spcPts val="1565"/>
              </a:spcBef>
            </a:pP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“Exploring</a:t>
            </a:r>
            <a:r>
              <a:rPr sz="2800" i="1" spc="-45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</a:t>
            </a:r>
            <a:r>
              <a:rPr sz="2800" i="1" spc="-4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Power</a:t>
            </a:r>
            <a:r>
              <a:rPr sz="2800" i="1" spc="-45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of</a:t>
            </a:r>
            <a:r>
              <a:rPr sz="2800" i="1" spc="-4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Agentic</a:t>
            </a:r>
            <a:r>
              <a:rPr sz="2800" i="1" spc="-4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AI</a:t>
            </a:r>
            <a:r>
              <a:rPr sz="2800" i="1" spc="-45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with</a:t>
            </a:r>
            <a:r>
              <a:rPr sz="2800" i="1" spc="-4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IBM</a:t>
            </a:r>
            <a:r>
              <a:rPr sz="2800" i="1" spc="-4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Granite</a:t>
            </a:r>
            <a:r>
              <a:rPr sz="2800" i="1" spc="-45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</a:t>
            </a:r>
            <a:r>
              <a:rPr sz="2800" i="1" spc="-4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spc="-1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RAG</a:t>
            </a:r>
            <a:r>
              <a:rPr sz="2800" i="1" spc="-1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”</a:t>
            </a:r>
            <a:endParaRPr sz="2800" i="1" spc="-1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92908" y="2593968"/>
          <a:ext cx="9395458" cy="2166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5020"/>
                <a:gridCol w="2443480"/>
                <a:gridCol w="2443479"/>
                <a:gridCol w="2443479"/>
              </a:tblGrid>
              <a:tr h="972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3016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Student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Name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2655" marR="371475" indent="-546735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Recent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Passport Photo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03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893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Email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ID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0555" marR="459105" indent="-165735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Mobile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number [WhatsApp]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03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193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10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100" dirty="0" err="1" smtClean="0">
                          <a:latin typeface="Times New Roman"/>
                          <a:cs typeface="Times New Roman"/>
                        </a:rPr>
                        <a:t>Sadaf</a:t>
                      </a:r>
                      <a:endParaRPr lang="en-US" sz="2100" dirty="0" smtClean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100" dirty="0" smtClean="0">
                          <a:latin typeface="Times New Roman"/>
                          <a:cs typeface="Times New Roman"/>
                        </a:rPr>
                        <a:t> Fatima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100" dirty="0" err="1" smtClean="0">
                          <a:latin typeface="Times New Roman"/>
                          <a:cs typeface="Times New Roman"/>
                        </a:rPr>
                        <a:t>Mansoori</a:t>
                      </a: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100" dirty="0" smtClean="0">
                          <a:latin typeface="Times New Roman"/>
                          <a:cs typeface="Times New Roman"/>
                        </a:rPr>
                        <a:t>  sfmansoori.tech06@gmail.com</a:t>
                      </a: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100" dirty="0" smtClean="0">
                          <a:latin typeface="Times New Roman"/>
                          <a:cs typeface="Times New Roman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100" dirty="0" smtClean="0">
                          <a:latin typeface="Times New Roman"/>
                          <a:cs typeface="Times New Roman"/>
                        </a:rPr>
                        <a:t> 7999654606</a:t>
                      </a: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2" y="3657604"/>
            <a:ext cx="1011647" cy="9859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79191" y="1473932"/>
            <a:ext cx="29698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Domain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30" dirty="0">
                <a:latin typeface="Arial"/>
                <a:cs typeface="Arial"/>
              </a:rPr>
              <a:t>  </a:t>
            </a:r>
            <a:r>
              <a:rPr sz="2400" b="1" dirty="0">
                <a:latin typeface="Arial"/>
                <a:cs typeface="Arial"/>
              </a:rPr>
              <a:t>Project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–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23517" y="1498824"/>
            <a:ext cx="6678931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Education</a:t>
            </a:r>
            <a:r>
              <a:rPr sz="2400" b="1" spc="-25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43000" y="512621"/>
            <a:ext cx="312419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</a:t>
            </a:r>
            <a:r>
              <a:rPr sz="2800" spc="-8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Tile</a:t>
            </a:r>
            <a:r>
              <a:rPr sz="2800" spc="-75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spc="-5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–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14800" y="533400"/>
            <a:ext cx="388366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lang="en-US" sz="2400" b="1" dirty="0" smtClean="0">
                <a:latin typeface="Arial"/>
                <a:cs typeface="Arial"/>
              </a:rPr>
              <a:t>Admit AI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099" y="1252728"/>
            <a:ext cx="10167620" cy="5380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Problem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Statement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lang="en-US" sz="2000" b="1" spc="-20" dirty="0" smtClean="0">
                <a:latin typeface="Arial"/>
                <a:cs typeface="Arial"/>
              </a:rPr>
              <a:t>College Admission AI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0" dirty="0" smtClean="0">
                <a:latin typeface="Arial"/>
                <a:cs typeface="Arial"/>
              </a:rPr>
              <a:t>Challenge</a:t>
            </a:r>
            <a:endParaRPr lang="en-US" sz="2000" b="1" spc="-10" dirty="0" smtClean="0">
              <a:latin typeface="Arial"/>
              <a:cs typeface="Arial"/>
            </a:endParaRPr>
          </a:p>
          <a:p>
            <a:r>
              <a:rPr lang="en-US" sz="2000" dirty="0" smtClean="0"/>
              <a:t>Every year, thousands of students struggle to choose the right college because admission information is scattered across multiple websites, PDFs, brochures, and government portals.</a:t>
            </a:r>
          </a:p>
          <a:p>
            <a:r>
              <a:rPr lang="en-US" sz="2000" dirty="0" smtClean="0"/>
              <a:t>Students often face problems such as:</a:t>
            </a:r>
          </a:p>
          <a:p>
            <a:r>
              <a:rPr lang="en-US" sz="2000" dirty="0" smtClean="0"/>
              <a:t>Difficulty understanding eligibility criteria </a:t>
            </a:r>
          </a:p>
          <a:p>
            <a:r>
              <a:rPr lang="en-US" sz="2000" dirty="0" smtClean="0"/>
              <a:t>Confusion about admission procedures </a:t>
            </a:r>
          </a:p>
          <a:p>
            <a:r>
              <a:rPr lang="en-US" sz="2000" dirty="0" smtClean="0"/>
              <a:t>Lack of personalized college recommendations </a:t>
            </a:r>
          </a:p>
          <a:p>
            <a:r>
              <a:rPr lang="en-US" sz="2000" dirty="0" smtClean="0"/>
              <a:t>Difficulty comparing colleges </a:t>
            </a:r>
          </a:p>
          <a:p>
            <a:r>
              <a:rPr lang="en-US" sz="2000" dirty="0" smtClean="0"/>
              <a:t>Uncertainty about scholarships and fee structure </a:t>
            </a:r>
          </a:p>
          <a:p>
            <a:r>
              <a:rPr lang="en-US" sz="2000" dirty="0" smtClean="0"/>
              <a:t>Missing important deadlines </a:t>
            </a:r>
          </a:p>
          <a:p>
            <a:r>
              <a:rPr lang="en-US" sz="2000" dirty="0" smtClean="0"/>
              <a:t>As a result, students spend hours searching online and may still make poor admission decisions.</a:t>
            </a:r>
          </a:p>
          <a:p>
            <a:endParaRPr lang="en-US" sz="2000" dirty="0"/>
          </a:p>
          <a:p>
            <a:endParaRPr lang="en-US" sz="2000" dirty="0" smtClean="0"/>
          </a:p>
          <a:p>
            <a:pPr marL="12700"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099" y="717296"/>
            <a:ext cx="44563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tx1"/>
                </a:solidFill>
              </a:rPr>
              <a:t>Problem</a:t>
            </a:r>
            <a:r>
              <a:rPr sz="2800" spc="-8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Statement</a:t>
            </a:r>
            <a:r>
              <a:rPr sz="2800" spc="-80" dirty="0">
                <a:solidFill>
                  <a:schemeClr val="tx1"/>
                </a:solidFill>
              </a:rPr>
              <a:t> </a:t>
            </a:r>
            <a:r>
              <a:rPr sz="2800" spc="-50" dirty="0">
                <a:solidFill>
                  <a:schemeClr val="tx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685800"/>
            <a:ext cx="10591800" cy="5232202"/>
          </a:xfrm>
        </p:spPr>
        <p:txBody>
          <a:bodyPr>
            <a:normAutofit fontScale="90000"/>
          </a:bodyPr>
          <a:lstStyle/>
          <a:p>
            <a:pPr algn="l"/>
            <a:r>
              <a:rPr lang="en-US" sz="31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Objective:</a:t>
            </a:r>
            <a:r>
              <a:rPr lang="en-US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Build an </a:t>
            </a:r>
            <a:r>
              <a:rPr lang="en-US" sz="2200" b="0" cap="none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ai</a:t>
            </a: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-powered college admission assistant that provides personalized, reliable, and real-time admission guidance.</a:t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system should:</a:t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1.Recommend suitable colleges based on student profile </a:t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2. Retrieve authentic admission information using RAG</a:t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3. Answer admission-related questions </a:t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4.Compare colleges</a:t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5. Explain eligibility criteria </a:t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6.Provide scholarship information </a:t>
            </a:r>
            <a:b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2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7. Guide students through the complete admission process</a:t>
            </a:r>
            <a:r>
              <a:rPr lang="en-US" sz="2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0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295402"/>
            <a:ext cx="10342245" cy="4950073"/>
          </a:xfrm>
          <a:prstGeom prst="rect">
            <a:avLst/>
          </a:prstGeom>
        </p:spPr>
        <p:txBody>
          <a:bodyPr vert="horz" wrap="square" lIns="0" tIns="12700" rIns="0" bIns="0" numCol="1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Proposed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Solution: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lang="en-US" sz="2800" dirty="0" smtClean="0"/>
              <a:t>AI-Powered College Admission Assistant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800" dirty="0"/>
          </a:p>
          <a:p>
            <a:pPr algn="just"/>
            <a:r>
              <a:rPr lang="en-US" sz="2000" dirty="0" smtClean="0"/>
              <a:t>The proposed solution is an intelligent multi-agent admission assistant built using </a:t>
            </a:r>
            <a:r>
              <a:rPr lang="en-US" sz="2000" b="1" dirty="0" smtClean="0"/>
              <a:t>IBM Granite Models</a:t>
            </a:r>
            <a:r>
              <a:rPr lang="en-US" sz="2000" dirty="0" smtClean="0"/>
              <a:t>, </a:t>
            </a:r>
            <a:r>
              <a:rPr lang="en-US" sz="2000" b="1" dirty="0" smtClean="0"/>
              <a:t>Lang Flow</a:t>
            </a:r>
            <a:r>
              <a:rPr lang="en-US" sz="2000" dirty="0" smtClean="0"/>
              <a:t>, </a:t>
            </a:r>
            <a:r>
              <a:rPr lang="en-US" sz="2000" b="1" dirty="0" smtClean="0"/>
              <a:t>Watsonx.ai</a:t>
            </a:r>
            <a:r>
              <a:rPr lang="en-US" sz="2000" dirty="0" smtClean="0"/>
              <a:t>, and </a:t>
            </a:r>
            <a:r>
              <a:rPr lang="en-US" sz="2000" b="1" dirty="0" smtClean="0"/>
              <a:t>Retrieval-Augmented Generation (RAG)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 dirty="0" smtClean="0"/>
              <a:t>Instead of manually searching multiple websites, students simply interact with the AI assistant.</a:t>
            </a:r>
          </a:p>
          <a:p>
            <a:pPr algn="just"/>
            <a:endParaRPr lang="en-US" sz="2000" dirty="0" smtClean="0"/>
          </a:p>
          <a:p>
            <a:r>
              <a:rPr lang="en-US" sz="2000" dirty="0" smtClean="0"/>
              <a:t>The assistant retrieves verified information from college brochures, admission guidelines, FAQs, and official documents using a RAG pipeline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000" dirty="0" smtClean="0"/>
              <a:t>The system includes multiple specialized AI agents:</a:t>
            </a:r>
          </a:p>
          <a:p>
            <a:endParaRPr lang="en-US" sz="2000" dirty="0" smtClean="0"/>
          </a:p>
          <a:p>
            <a:r>
              <a:rPr lang="en-US" sz="2000" b="1" dirty="0" smtClean="0"/>
              <a:t>Admission Information Agent</a:t>
            </a:r>
          </a:p>
          <a:p>
            <a:r>
              <a:rPr lang="en-US" sz="2000" dirty="0" smtClean="0"/>
              <a:t>Retrieves admission rules, eligibility criteria, important dates, and application procedures</a:t>
            </a:r>
            <a:r>
              <a:rPr lang="en-US" sz="2800" dirty="0" smtClean="0"/>
              <a:t>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097" y="664745"/>
            <a:ext cx="49135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Proposed</a:t>
            </a:r>
            <a:r>
              <a:rPr sz="2800" spc="-4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Solution</a:t>
            </a:r>
            <a:r>
              <a:rPr sz="2800" spc="-4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800" spc="-5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2"/>
            <a:ext cx="11201400" cy="6619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College Recommendation Agent</a:t>
            </a:r>
          </a:p>
          <a:p>
            <a:endParaRPr lang="en-US" b="1" dirty="0" smtClean="0"/>
          </a:p>
          <a:p>
            <a:r>
              <a:rPr lang="en-US" sz="2000" dirty="0" smtClean="0"/>
              <a:t>Suggests suitable colleges based on:</a:t>
            </a:r>
          </a:p>
          <a:p>
            <a:r>
              <a:rPr lang="en-US" sz="2000" dirty="0" smtClean="0"/>
              <a:t>1. Marks </a:t>
            </a:r>
          </a:p>
          <a:p>
            <a:r>
              <a:rPr lang="en-US" sz="2000" dirty="0" smtClean="0"/>
              <a:t>2. Category </a:t>
            </a:r>
          </a:p>
          <a:p>
            <a:r>
              <a:rPr lang="en-US" sz="2000" dirty="0" smtClean="0"/>
              <a:t>3. Preferred location </a:t>
            </a:r>
          </a:p>
          <a:p>
            <a:r>
              <a:rPr lang="en-US" sz="2000" dirty="0" smtClean="0"/>
              <a:t>4. Branch </a:t>
            </a:r>
          </a:p>
          <a:p>
            <a:r>
              <a:rPr lang="en-US" sz="2000" dirty="0" smtClean="0"/>
              <a:t>5. Budget </a:t>
            </a:r>
          </a:p>
          <a:p>
            <a:endParaRPr lang="en-US" dirty="0" smtClean="0"/>
          </a:p>
          <a:p>
            <a:r>
              <a:rPr lang="en-US" sz="2000" b="1" dirty="0" smtClean="0"/>
              <a:t>Scholarship Agent</a:t>
            </a:r>
          </a:p>
          <a:p>
            <a:r>
              <a:rPr lang="en-US" sz="2000" dirty="0" smtClean="0"/>
              <a:t>Provides information about scholarships, fee waivers, and financial assistance.</a:t>
            </a:r>
          </a:p>
          <a:p>
            <a:endParaRPr lang="en-US" sz="2000" dirty="0" smtClean="0"/>
          </a:p>
          <a:p>
            <a:r>
              <a:rPr lang="en-US" sz="2000" b="1" dirty="0" smtClean="0"/>
              <a:t>FAQ Agent</a:t>
            </a:r>
          </a:p>
          <a:p>
            <a:r>
              <a:rPr lang="en-US" sz="2000" dirty="0" smtClean="0"/>
              <a:t>Answers common admission-related queries instantly.</a:t>
            </a:r>
          </a:p>
          <a:p>
            <a:endParaRPr lang="en-US" sz="2000" dirty="0" smtClean="0"/>
          </a:p>
          <a:p>
            <a:r>
              <a:rPr lang="en-US" sz="2000" b="1" dirty="0" smtClean="0"/>
              <a:t>Document Guidance Agent</a:t>
            </a:r>
          </a:p>
          <a:p>
            <a:r>
              <a:rPr lang="en-US" sz="2000" dirty="0" smtClean="0"/>
              <a:t>Helps students understand required documents and the admission checklist.</a:t>
            </a:r>
          </a:p>
          <a:p>
            <a:r>
              <a:rPr lang="en-US" sz="2000" dirty="0" smtClean="0"/>
              <a:t>A user-friendly web interface allows students to ask questions naturally and receive personalized guidance within seconds.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 smtClean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050" dirty="0" smtClean="0">
              <a:latin typeface="Arial"/>
              <a:cs typeface="Arial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4892" y="292612"/>
            <a:ext cx="6401563" cy="1081835"/>
          </a:xfrm>
          <a:prstGeom prst="rect">
            <a:avLst/>
          </a:prstGeom>
        </p:spPr>
        <p:txBody>
          <a:bodyPr vert="horz" wrap="square" lIns="0" tIns="217932" rIns="0" bIns="0" rtlCol="0">
            <a:spAutoFit/>
          </a:bodyPr>
          <a:lstStyle/>
          <a:p>
            <a:pPr marL="337820">
              <a:spcBef>
                <a:spcPts val="100"/>
              </a:spcBef>
            </a:pPr>
            <a:r>
              <a:rPr lang="en-US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IBM Technologies</a:t>
            </a:r>
            <a:br>
              <a:rPr lang="en-US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endParaRPr sz="2800" spc="-2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3" y="1295400"/>
            <a:ext cx="10227287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IBM Cloud </a:t>
            </a:r>
            <a:r>
              <a:rPr lang="en-US" sz="2000" b="1" dirty="0" err="1" smtClean="0"/>
              <a:t>Lite</a:t>
            </a: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Project Deployment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Cloud Hosting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Secure Environment 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IBM watsonx.ai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IBM Granite LLM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Answer Generation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Natural Language Understanding 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IBM Granite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Generates contextual answers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Hallucination reduction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RAG integration </a:t>
            </a:r>
          </a:p>
          <a:p>
            <a:pPr>
              <a:buFont typeface="Arial" pitchFamily="34" charset="0"/>
              <a:buChar char="•"/>
            </a:pP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133599"/>
          <a:ext cx="9144000" cy="23622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90550">
                <a:tc>
                  <a:txBody>
                    <a:bodyPr/>
                    <a:lstStyle/>
                    <a:p>
                      <a:r>
                        <a:rPr lang="en-US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Database</a:t>
                      </a:r>
                    </a:p>
                  </a:txBody>
                  <a:tcPr anchor="ctr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lang="en-US"/>
                        <a:t>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Flask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IBM Granite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FAISS</a:t>
                      </a:r>
                    </a:p>
                  </a:txBody>
                  <a:tcPr anchor="ctr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lang="en-US"/>
                        <a:t>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LangChain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Vector DB</a:t>
                      </a:r>
                    </a:p>
                  </a:txBody>
                  <a:tcPr anchor="ctr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lang="en-US"/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HuggingFace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 Documents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381000" y="533404"/>
            <a:ext cx="3262432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Technology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4891" y="470689"/>
            <a:ext cx="625690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5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System Architecture</a:t>
            </a:r>
            <a:endParaRPr sz="2800" spc="-5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7848" y="1094835"/>
            <a:ext cx="863981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 indent="-20637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19075" algn="l"/>
              </a:tabLst>
            </a:pPr>
            <a:endParaRPr sz="1400" dirty="0">
              <a:latin typeface="Arial MT"/>
              <a:cs typeface="Arial MT"/>
            </a:endParaRPr>
          </a:p>
        </p:txBody>
      </p:sp>
      <p:pic>
        <p:nvPicPr>
          <p:cNvPr id="4" name="Picture 3" descr="Screenshot 2026-07-10 19005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00" y="1524000"/>
            <a:ext cx="10058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agworkflow]]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752602"/>
            <a:ext cx="9886949" cy="36861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2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RAG Work Flow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33400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Project Work Flow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Screenshot 2026-07-10 19103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7800" y="1066800"/>
            <a:ext cx="78486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457202"/>
            <a:ext cx="94488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🌟 Key Features of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Admit_AI</a:t>
            </a:r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endParaRPr lang="en-US" sz="2800" b="1" dirty="0">
              <a:latin typeface="Arial" pitchFamily="34" charset="0"/>
              <a:cs typeface="Arial" pitchFamily="34" charset="0"/>
            </a:endParaRPr>
          </a:p>
          <a:p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🎓 Smart College Admission Guidance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Get instant answers about admission procedures, eligibility criteria, and important deadlines. 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🤖 AI-Powered Conversational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Chatbot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Interact naturally with an AI assistant using IBM Granite LLM for human-like responses. 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📄 Official PDF-Based Knowledge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Answers are generated only from official admission brochures and documents, ensuring authenticity. 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🔍 Retrieval-Augmented Generation (RAG)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Retrieves the most relevant information from PDFs before generating responses, reducing hallucinations. 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💰 Fee Structure Information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Provides detailed tuition fees, hostel fees, and other academic expenses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shot 2026-07-10 18415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838200"/>
            <a:ext cx="98298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7-10 18432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533402"/>
            <a:ext cx="9906000" cy="5629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7-10 18443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609600"/>
            <a:ext cx="9906000" cy="56950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7-12 1138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685800"/>
            <a:ext cx="9372600" cy="55174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7-10 18454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1"/>
            <a:ext cx="9829800" cy="60102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7-10 18465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1" y="685800"/>
            <a:ext cx="1020127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7-10 18483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685800"/>
            <a:ext cx="10515600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7-12 11363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762000"/>
            <a:ext cx="9601200" cy="53220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7-12 11374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762000"/>
            <a:ext cx="10134600" cy="54450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7-10 18502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2"/>
            <a:ext cx="10363200" cy="63899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7-10 18513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381000"/>
            <a:ext cx="102108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166843"/>
            <a:ext cx="86106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🌟 Key Features of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AdmitAI</a:t>
            </a:r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🎓 Smart College Admission Guidance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Get instant answers about admission procedures, eligibility criteria, and important deadlines. 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🤖 AI-Powered Conversational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Chatbot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Interact naturally with an AI assistant using IBM Granite LLM for human-like responses. 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📄 Official PDF-Based Knowledge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Answers are generated only from official admission brochures and documents, ensuring authenticity. 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🔍 Retrieval-Augmented Generation (RAG)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Retrieves the most relevant information from PDFs before generating responses, reducing hallucinations. 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💰 Fee Structure Information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Provides detailed tuition fees, hostel fees, and other academic expenses.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ChangeArrowheads="1"/>
          </p:cNvSpPr>
          <p:nvPr/>
        </p:nvSpPr>
        <p:spPr bwMode="auto">
          <a:xfrm>
            <a:off x="152400" y="94820"/>
            <a:ext cx="10439400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🌟 What Makes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Admit_AI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Unique?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🎯 1. Official Document-Based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Unlike generic AI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chatbots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AdmitAI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answers questions </a:t>
            </a: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only from official college admission brochures and documents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ensuring reliable and authentic information.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228600" y="2286000"/>
            <a:ext cx="10210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🤖 2. IBM Granite + RAG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Instead of generating answers from general knowledge, the system first retrieves relevant information using 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RAG (Retrieval-Augmented Generation) and then uses IBM Granite LLM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to produce context-aware responses.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304800" y="4953000"/>
            <a:ext cx="9601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🏫 4. Multi-College Knowledge 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Supports admission information from multiple colleges and universities (IITs, State Universities, Private Colleges) within a single platform.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228600" y="3606969"/>
            <a:ext cx="10591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🔄 3. Easy to Update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New college brochures can be added easily. Rebuilding the vector database automatically expands the AI's knowledge base without changing the application.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848589"/>
            <a:ext cx="10972800" cy="547947"/>
          </a:xfrm>
          <a:prstGeom prst="rect">
            <a:avLst/>
          </a:prstGeom>
        </p:spPr>
        <p:txBody>
          <a:bodyPr vert="horz" wrap="square" lIns="0" tIns="115928" rIns="0" bIns="0" rtlCol="0">
            <a:spAutoFit/>
          </a:bodyPr>
          <a:lstStyle/>
          <a:p>
            <a:pPr marL="69342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tx1"/>
                </a:solidFill>
              </a:rPr>
              <a:t>Git</a:t>
            </a:r>
            <a:r>
              <a:rPr sz="2800" spc="-10" dirty="0">
                <a:solidFill>
                  <a:schemeClr val="tx1"/>
                </a:solidFill>
              </a:rPr>
              <a:t> </a:t>
            </a:r>
            <a:r>
              <a:rPr sz="2800" dirty="0">
                <a:solidFill>
                  <a:schemeClr val="tx1"/>
                </a:solidFill>
              </a:rPr>
              <a:t>Hub</a:t>
            </a:r>
            <a:r>
              <a:rPr sz="2800" spc="-10" dirty="0">
                <a:solidFill>
                  <a:schemeClr val="tx1"/>
                </a:solidFill>
              </a:rPr>
              <a:t> </a:t>
            </a:r>
            <a:r>
              <a:rPr sz="2800" spc="-20" dirty="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7926" y="1796390"/>
            <a:ext cx="9262111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80"/>
              </a:spcBef>
            </a:pPr>
            <a:r>
              <a:rPr sz="2000" b="1" dirty="0" err="1" smtClean="0">
                <a:solidFill>
                  <a:srgbClr val="2B3541"/>
                </a:solidFill>
                <a:latin typeface="Arial" pitchFamily="34" charset="0"/>
                <a:cs typeface="Arial" pitchFamily="34" charset="0"/>
              </a:rPr>
              <a:t>Git</a:t>
            </a:r>
            <a:r>
              <a:rPr lang="en-US" sz="2000" b="1" dirty="0" smtClean="0">
                <a:solidFill>
                  <a:srgbClr val="2B354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00" b="1" dirty="0" smtClean="0">
                <a:solidFill>
                  <a:srgbClr val="2B3541"/>
                </a:solidFill>
                <a:latin typeface="Arial" pitchFamily="34" charset="0"/>
                <a:cs typeface="Arial" pitchFamily="34" charset="0"/>
              </a:rPr>
              <a:t>hub</a:t>
            </a:r>
            <a:r>
              <a:rPr sz="2000" b="1" spc="-30" dirty="0" smtClean="0">
                <a:solidFill>
                  <a:srgbClr val="2B354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00" b="1" dirty="0">
                <a:solidFill>
                  <a:srgbClr val="2B3541"/>
                </a:solidFill>
                <a:latin typeface="Arial" pitchFamily="34" charset="0"/>
                <a:cs typeface="Arial" pitchFamily="34" charset="0"/>
              </a:rPr>
              <a:t>URL</a:t>
            </a:r>
            <a:r>
              <a:rPr sz="2000" b="1" spc="-90" dirty="0">
                <a:solidFill>
                  <a:srgbClr val="2B354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000" b="1" spc="-50" dirty="0" smtClean="0">
                <a:solidFill>
                  <a:srgbClr val="2B3541"/>
                </a:solidFill>
                <a:latin typeface="Arial" pitchFamily="34" charset="0"/>
                <a:cs typeface="Arial" pitchFamily="34" charset="0"/>
              </a:rPr>
              <a:t>–</a:t>
            </a:r>
            <a:endParaRPr lang="en-US" sz="2000" b="1" spc="-50" dirty="0" smtClean="0">
              <a:solidFill>
                <a:srgbClr val="2B3541"/>
              </a:solidFill>
              <a:latin typeface="Arial" pitchFamily="34" charset="0"/>
              <a:cs typeface="Arial" pitchFamily="34" charset="0"/>
            </a:endParaRPr>
          </a:p>
          <a:p>
            <a:pPr marL="50800">
              <a:lnSpc>
                <a:spcPct val="100000"/>
              </a:lnSpc>
              <a:spcBef>
                <a:spcPts val="1380"/>
              </a:spcBef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https://github.com/sfmansooritech06-cmd/Admission_AI</a:t>
            </a:r>
            <a:endParaRPr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000" dirty="0">
              <a:latin typeface="Arial" pitchFamily="34" charset="0"/>
              <a:cs typeface="Arial" pitchFamily="34" charset="0"/>
            </a:endParaRPr>
          </a:p>
          <a:p>
            <a:pPr marL="50800">
              <a:lnSpc>
                <a:spcPct val="100000"/>
              </a:lnSpc>
            </a:pPr>
            <a:r>
              <a:rPr sz="2000" spc="-50" dirty="0">
                <a:solidFill>
                  <a:srgbClr val="2B3541"/>
                </a:solidFill>
                <a:latin typeface="Arial" pitchFamily="34" charset="0"/>
                <a:cs typeface="Arial" pitchFamily="34" charset="0"/>
              </a:rPr>
              <a:t>·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025" y="5408615"/>
            <a:ext cx="104139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50" dirty="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10972800" cy="701836"/>
          </a:xfrm>
          <a:prstGeom prst="rect">
            <a:avLst/>
          </a:prstGeom>
        </p:spPr>
        <p:txBody>
          <a:bodyPr vert="horz" wrap="square" lIns="0" tIns="115928" rIns="0" bIns="0" rtlCol="0">
            <a:spAutoFit/>
          </a:bodyPr>
          <a:lstStyle/>
          <a:p>
            <a:pPr marL="69342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Future</a:t>
            </a:r>
            <a:r>
              <a:rPr spc="-3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025" y="3338118"/>
            <a:ext cx="104139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50" dirty="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914400"/>
            <a:ext cx="10439400" cy="6158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️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Voice Assistant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–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    Enable students to interact with the AI using voice commands for a hands-free experience. 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🌍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Regional Language Support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–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 Support multiple Indian languages (Hindi, Marathi, Tamil, Telugu, Bengali, etc.) to improve accessibility. 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💬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WhatsApp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Integration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– 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 Allow students to receive admission updates, reminders, and ask queries directly through 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WhatsApp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🎯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Personalized College Recommendation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– 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Recommend the best colleges based on marks, rank, location, budget, and preferred branch. 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📊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Application Tracking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–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 Let students monitor the real-time status of their admission applications and document verification. 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👤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Student Dashboard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– 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Provide a personalized dashboard to view application status, saved colleges, deadlines, and notifications. 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212725" indent="-179070">
              <a:lnSpc>
                <a:spcPct val="100000"/>
              </a:lnSpc>
              <a:spcBef>
                <a:spcPts val="100"/>
              </a:spcBef>
              <a:buSzPct val="94594"/>
              <a:buAutoNum type="arabicPeriod"/>
              <a:tabLst>
                <a:tab pos="212725" algn="l"/>
              </a:tabLst>
            </a:pPr>
            <a:endParaRPr sz="185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BMDesign20260622-31-10bv06_page-00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304800"/>
            <a:ext cx="102870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etting-started-with-cybersecurit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571500"/>
            <a:ext cx="103632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ab_page-00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609600"/>
            <a:ext cx="9700752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190306"/>
            <a:ext cx="12191999" cy="247739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607</TotalTime>
  <Words>835</Words>
  <Application>Microsoft Office PowerPoint</Application>
  <PresentationFormat>Custom</PresentationFormat>
  <Paragraphs>155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Opulent</vt:lpstr>
      <vt:lpstr>IBM University Engagement Project Submission “Exploring the Power of Agentic AI with IBM Granite and RAG”</vt:lpstr>
      <vt:lpstr>Project Tile –</vt:lpstr>
      <vt:lpstr>Problem Statement -</vt:lpstr>
      <vt:lpstr>The Objective:  Build an ai-powered college admission assistant that provides personalized, reliable, and real-time admission guidance.  The system should:    1.Recommend suitable colleges based on student profile    2. Retrieve authentic admission information using RAG   3. Answer admission-related questions    4.Compare colleges   5. Explain eligibility criteria    6.Provide scholarship information    7. Guide students through the complete admission process  </vt:lpstr>
      <vt:lpstr>Proposed Solution -</vt:lpstr>
      <vt:lpstr>Slide 6</vt:lpstr>
      <vt:lpstr> IBM Technologies </vt:lpstr>
      <vt:lpstr>Slide 8</vt:lpstr>
      <vt:lpstr>System Architecture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Git Hub Link</vt:lpstr>
      <vt:lpstr>Future Scope</vt:lpstr>
      <vt:lpstr>Slide 28</vt:lpstr>
      <vt:lpstr>Slide 29</vt:lpstr>
      <vt:lpstr>Slide 30</vt:lpstr>
      <vt:lpstr>Slide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University Engagement Project Submission “Exploring the Power of Agentic AI with IBM Granite and LangFlow”</dc:title>
  <cp:lastModifiedBy>ABC</cp:lastModifiedBy>
  <cp:revision>65</cp:revision>
  <dcterms:created xsi:type="dcterms:W3CDTF">2026-07-07T11:56:29Z</dcterms:created>
  <dcterms:modified xsi:type="dcterms:W3CDTF">2026-07-12T10:16:05Z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2026-07-07T00:00:00Z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2026-07-07T00:00:00Z</vt:filetime>
  </property>
</Properties>
</file>